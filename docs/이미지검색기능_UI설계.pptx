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FC5FF"/>
                </a:solidFill>
                <a:latin typeface="맑은 고딕"/>
              </a:rPr>
              <a:t>crawl_autowrite · 기능 확장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키워드 기반 이미지 자동 검색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3E0"/>
                </a:solidFill>
                <a:latin typeface="맑은 고딕"/>
              </a:rPr>
              <a:t>글쓰기 전/후 시점 선택형 이미지 검색·삽입 — 인터페이스 및 파이프라인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370"/>
                </a:solidFill>
                <a:latin typeface="맑은 고딕"/>
              </a:rPr>
              <a:t>현재 PyQt6 입력 탭(app.py InputTab) 기준 와이어프레임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FC5FF"/>
                </a:solidFill>
                <a:latin typeface="맑은 고딕"/>
              </a:rPr>
              <a:t>01.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현재 이미지 처리 방식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394960" cy="4846320"/>
          </a:xfrm>
          <a:prstGeom prst="roundRect">
            <a:avLst>
              <a:gd name="adj" fmla="val 3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① 사용자 업로드 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InputTab의 이미지 드래그·드롭 목록(ImageDropList)으로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수동으로 첨부한 로컬 이미지를 사용.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② AI 실사 이미지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"AI 실사 이미지 생성" 체크박스 ON 시, AI가 글을 쓰면서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스스로 웹 검색으로 어울리는 이미지 URL을 찾고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image_fetch.download_and_crop_square()로 다운로드·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정사각형 크롭 후 본문에 삽입 (pipeline.run_generation).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94C4C"/>
                </a:solidFill>
                <a:latin typeface="맑은 고딕"/>
              </a:rPr>
              <a:t>→ 검색 키워드/시점을 사용자가 직접 지정할 수 없고,</a:t>
            </a:r>
          </a:p>
          <a:p>
            <a:pPr algn="l"/>
            <a:r>
              <a:rPr sz="1200" b="0">
                <a:solidFill>
                  <a:srgbClr val="D94C4C"/>
                </a:solidFill>
                <a:latin typeface="맑은 고딕"/>
              </a:rPr>
              <a:t>   전량 AI 판단에 위임됨.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394960" cy="4846320"/>
          </a:xfrm>
          <a:prstGeom prst="roundRect">
            <a:avLst>
              <a:gd name="adj" fmla="val 3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A2E"/>
                </a:solidFill>
                <a:latin typeface="맑은 고딕"/>
              </a:rPr>
              <a:t>요청 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892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사용자가 입력한 키워드를 기준으로,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"글쓰기 전" 또는 "글쓰기 후" 중 원하는 시점에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관련 이미지를 직접 검색해서 확인하고 쓰고 싶다.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→ 이미지 검색을 AI 위임이 아닌 명시적 기능으로 분리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→ 검색 시점을 사용자가 선택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→ 검색 결과를 미리보기 후 선택적으로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FC5FF"/>
                </a:solidFill>
                <a:latin typeface="맑은 고딕"/>
              </a:rPr>
              <a:t>02. 인터페이스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As-Is — 입력 탭(InputTab) 현재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417320"/>
            <a:ext cx="512064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4630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370"/>
                </a:solidFill>
                <a:latin typeface="맑은 고딕"/>
              </a:rPr>
              <a:t>탭: [입력] [AGENTS.md 편집] [실행·로그] [멀티 작업] [결과]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783080"/>
            <a:ext cx="281635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키워드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11112" y="1783080"/>
            <a:ext cx="1126540" cy="36576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☑ 크롤링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783080"/>
            <a:ext cx="640080" cy="36576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10건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240280"/>
            <a:ext cx="4846320" cy="3200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☐ 네이버 로그인 수동으로 진행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651760"/>
            <a:ext cx="146304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AI 실행기/모델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651760"/>
            <a:ext cx="3291839" cy="3200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claude 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063240"/>
            <a:ext cx="3072384" cy="3200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952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☑ AI 실사 이미지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67144" y="3063240"/>
            <a:ext cx="1536192" cy="3200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3장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47472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AGENTS.md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474720"/>
            <a:ext cx="3749039" cy="3200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PostResult/agents/AGENTS.md 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931920"/>
            <a:ext cx="1371600" cy="3200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기존 데이터 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3931920"/>
            <a:ext cx="1188720" cy="3200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재사용 해제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931920"/>
            <a:ext cx="2103120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5B6370"/>
                </a:solidFill>
                <a:latin typeface="맑은 고딕"/>
              </a:rPr>
              <a:t>재사용: 사용 안 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434340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00" b="0">
                <a:solidFill>
                  <a:srgbClr val="5B6370"/>
                </a:solidFill>
                <a:latin typeface="맑은 고딕"/>
              </a:rPr>
              <a:t>(재사용 후보 목록)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892040"/>
            <a:ext cx="48463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5B6370"/>
                </a:solidFill>
                <a:latin typeface="맑은 고딕"/>
              </a:rPr>
              <a:t>comment (선택)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5623560"/>
            <a:ext cx="9144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</a:rPr>
              <a:t>이미지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5605272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이미지 초기화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5943600"/>
            <a:ext cx="48463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00" b="0">
                <a:solidFill>
                  <a:srgbClr val="5B6370"/>
                </a:solidFill>
                <a:latin typeface="맑은 고딕"/>
              </a:rPr>
              <a:t>(드래그&amp;드롭 이미지 목록)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011680"/>
            <a:ext cx="2834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· PyQt6 QVBoxLayout 기반 세로 폼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· "AI 실사 이미지 생성" 섹션만 존재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  (파란 강조 박스)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· 이미지 검색 관련 UI 없음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· 이미지는 수동 첨부 또는</a:t>
            </a:r>
          </a:p>
          <a:p>
            <a:pPr algn="l"/>
            <a:r>
              <a:rPr sz="1200" b="0">
                <a:solidFill>
                  <a:srgbClr val="5B6370"/>
                </a:solidFill>
                <a:latin typeface="맑은 고딕"/>
              </a:rPr>
              <a:t>  AI 위임 생성만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FC5FF"/>
                </a:solidFill>
                <a:latin typeface="맑은 고딕"/>
              </a:rPr>
              <a:t>02. 인터페이스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To-Be — "이미지 자동 검색" 섹션 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5760720" cy="5166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508760"/>
            <a:ext cx="3168396" cy="320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키워드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7396" y="1508760"/>
            <a:ext cx="1267358" cy="3200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850" b="0">
                <a:solidFill>
                  <a:srgbClr val="222222"/>
                </a:solidFill>
                <a:latin typeface="맑은 고딕"/>
              </a:rPr>
              <a:t>☑ 크롤링 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20240"/>
            <a:ext cx="5486400" cy="27432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952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850" b="0">
                <a:solidFill>
                  <a:srgbClr val="222222"/>
                </a:solidFill>
                <a:latin typeface="맑은 고딕"/>
              </a:rPr>
              <a:t>☑ AI 실사 이미지 생성   3장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286000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E4F7EE"/>
          </a:solidFill>
          <a:ln w="19050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35915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9E6B"/>
                </a:solidFill>
                <a:latin typeface="맑은 고딕"/>
              </a:rPr>
              <a:t>★ 신규: 이미지 자동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51760"/>
            <a:ext cx="288036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800" b="0">
                <a:solidFill>
                  <a:srgbClr val="222222"/>
                </a:solidFill>
                <a:latin typeface="맑은 고딕"/>
              </a:rPr>
              <a:t>☑ 키워드로 이미지 자동 검색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19" y="2651760"/>
            <a:ext cx="1728216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5장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017520"/>
            <a:ext cx="52120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800" b="0">
                <a:solidFill>
                  <a:srgbClr val="5B6370"/>
                </a:solidFill>
                <a:latin typeface="맑은 고딕"/>
              </a:rPr>
              <a:t>검색 키워드: [ 제주도 감성카페     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383279"/>
            <a:ext cx="25603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800" b="1">
                <a:solidFill>
                  <a:srgbClr val="219E6B"/>
                </a:solidFill>
                <a:latin typeface="맑은 고딕"/>
              </a:rPr>
              <a:t>◉ 글쓰기 전 검색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383279"/>
            <a:ext cx="25603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800" b="0">
                <a:solidFill>
                  <a:srgbClr val="5B6370"/>
                </a:solidFill>
                <a:latin typeface="맑은 고딕"/>
              </a:rPr>
              <a:t>○ 글쓰기 후 검색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4114800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850" b="0">
                <a:solidFill>
                  <a:srgbClr val="222222"/>
                </a:solidFill>
                <a:latin typeface="맑은 고딕"/>
              </a:rPr>
              <a:t>AGENTS.md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114800"/>
            <a:ext cx="4389120" cy="292608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850" b="0">
                <a:solidFill>
                  <a:srgbClr val="222222"/>
                </a:solidFill>
                <a:latin typeface="맑은 고딕"/>
              </a:rPr>
              <a:t>PostResult/agents/AGENTS.md 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49884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850" b="0">
                <a:solidFill>
                  <a:srgbClr val="5B6370"/>
                </a:solidFill>
                <a:latin typeface="맑은 고딕"/>
              </a:rPr>
              <a:t>comment (선택)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5093208"/>
            <a:ext cx="5486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850" b="0">
                <a:solidFill>
                  <a:srgbClr val="5B6370"/>
                </a:solidFill>
                <a:latin typeface="맑은 고딕"/>
              </a:rPr>
              <a:t>(드래그&amp;드롭 이미지 목록)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828800"/>
            <a:ext cx="2514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핵심 배치 원칙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/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· 기존 "AI 실사 이미지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  생성" 바로 아래,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  comment 위에 삽입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/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· 초록색으로 강조해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  신규 기능임을 표시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/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· 라디오 버튼으로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  검색 시점(전/후)을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  배타적으로 선택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/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· 두 이미지 소스(AI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  생성 vs 검색)는</a:t>
            </a:r>
          </a:p>
          <a:p>
            <a:pPr algn="l"/>
            <a:r>
              <a:rPr sz="1150" b="0">
                <a:solidFill>
                  <a:srgbClr val="5B6370"/>
                </a:solidFill>
                <a:latin typeface="맑은 고딕"/>
              </a:rPr>
              <a:t>  동시 사용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FC5FF"/>
                </a:solidFill>
                <a:latin typeface="맑은 고딕"/>
              </a:rPr>
              <a:t>02. 인터페이스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검색 결과 미리보기 (썸네일 선택 패널)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463040"/>
            <a:ext cx="77724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1600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이미지 검색 결과 — "제주도 감성카페"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965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0"/>
                </a:solidFill>
                <a:latin typeface="맑은 고딕"/>
              </a:rPr>
              <a:t>포함할 이미지를 선택하세요 (기본: 상위 5장 자동 선택)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377440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E4F7EE"/>
          </a:solidFill>
          <a:ln w="1587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28346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243230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5072" y="2377440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E4F7EE"/>
          </a:solidFill>
          <a:ln w="1587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8346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3" y="243230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6983" y="2377440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E4F7EE"/>
          </a:solidFill>
          <a:ln w="1587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6983" y="28346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5" y="243230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2377440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E4F7EE"/>
          </a:solidFill>
          <a:ln w="1587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8896" y="28346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43230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0808" y="2377440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E4F7EE"/>
          </a:solidFill>
          <a:ln w="1587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8" y="28346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43230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776472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42336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7872" y="3831335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5072" y="3776472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5072" y="42336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9783" y="3831335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86983" y="3776472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42336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11695" y="3831335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8896" y="3776472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6" y="42336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93608" y="3831335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0808" y="3776472"/>
            <a:ext cx="1417320" cy="1188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0808" y="42336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370"/>
                </a:solidFill>
                <a:latin typeface="맑은 고딕"/>
              </a:rPr>
              <a:t>IMG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3831335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219E6B"/>
                </a:solidFill>
                <a:latin typeface="맑은 고딕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23160" y="531266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222222"/>
                </a:solidFill>
                <a:latin typeface="맑은 고딕"/>
              </a:rPr>
              <a:t>다시 검색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5312664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222222"/>
                </a:solidFill>
                <a:latin typeface="맑은 고딕"/>
              </a:rPr>
              <a:t>전체 선택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5312664"/>
            <a:ext cx="1508760" cy="365760"/>
          </a:xfrm>
          <a:prstGeom prst="roundRect">
            <a:avLst>
              <a:gd name="adj" fmla="val 6000"/>
            </a:avLst>
          </a:prstGeom>
          <a:solidFill>
            <a:srgbClr val="21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선택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640080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370"/>
                </a:solidFill>
                <a:latin typeface="맑은 고딕"/>
              </a:rPr>
              <a:t>* 검색 API 응답의 원본 URL은 image_fetch.download_and_crop_square()로 즉시 다운로드하지 않고, 선택 확정 후에만 다운로드/정사각형 크롭 저장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FC5FF"/>
                </a:solidFill>
                <a:latin typeface="맑은 고딕"/>
              </a:rPr>
              <a:t>03. 파이프라인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run_pipeline() 단계 흐름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B6370"/>
                </a:solidFill>
                <a:latin typeface="맑은 고딕"/>
              </a:rPr>
              <a:t>AS-IS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69164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222"/>
                </a:solidFill>
                <a:latin typeface="맑은 고딕"/>
              </a:rPr>
              <a:t>크롤링
(crawl)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1518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0"/>
                </a:solidFill>
                <a:latin typeface="맑은 고딕"/>
              </a:rPr>
              <a:t>블로그 원문 수집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783080"/>
            <a:ext cx="1691640" cy="7772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222"/>
                </a:solidFill>
                <a:latin typeface="맑은 고딕"/>
              </a:rPr>
              <a:t>AI 생성
(generate)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1518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0"/>
                </a:solidFill>
                <a:latin typeface="맑은 고딕"/>
              </a:rPr>
              <a:t>글쓰기 + (선택)AI</a:t>
            </a:r>
          </a:p>
          <a:p>
            <a:pPr algn="ctr"/>
            <a:r>
              <a:rPr sz="850" b="0">
                <a:solidFill>
                  <a:srgbClr val="5B6370"/>
                </a:solidFill>
                <a:latin typeface="맑은 고딕"/>
              </a:rPr>
              <a:t>이미지 위임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83080"/>
            <a:ext cx="169164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222"/>
                </a:solidFill>
                <a:latin typeface="맑은 고딕"/>
              </a:rPr>
              <a:t>이미지 생성
(image_gen)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1518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0"/>
                </a:solidFill>
                <a:latin typeface="맑은 고딕"/>
              </a:rPr>
              <a:t>generate 결과 상태만</a:t>
            </a:r>
          </a:p>
          <a:p>
            <a:pPr algn="ctr"/>
            <a:r>
              <a:rPr sz="850" b="0">
                <a:solidFill>
                  <a:srgbClr val="5B6370"/>
                </a:solidFill>
                <a:latin typeface="맑은 고딕"/>
              </a:rPr>
              <a:t>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83080"/>
            <a:ext cx="169164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222222"/>
                </a:solidFill>
                <a:latin typeface="맑은 고딕"/>
              </a:rPr>
              <a:t>발행
(publish)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1518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0"/>
                </a:solidFill>
                <a:latin typeface="맑은 고딕"/>
              </a:rPr>
              <a:t>네이버 블로그 게시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2171700"/>
            <a:ext cx="320040" cy="0"/>
          </a:xfrm>
          <a:prstGeom prst="bentConnector3">
            <a:avLst/>
          </a:prstGeom>
          <a:ln w="19050">
            <a:solidFill>
              <a:srgbClr val="5B63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2171700"/>
            <a:ext cx="320040" cy="0"/>
          </a:xfrm>
          <a:prstGeom prst="bentConnector3">
            <a:avLst/>
          </a:prstGeom>
          <a:ln w="19050">
            <a:solidFill>
              <a:srgbClr val="5B63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17920" y="2171700"/>
            <a:ext cx="320040" cy="0"/>
          </a:xfrm>
          <a:prstGeom prst="bentConnector3">
            <a:avLst/>
          </a:prstGeom>
          <a:ln w="19050">
            <a:solidFill>
              <a:srgbClr val="5B63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74903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9E6B"/>
                </a:solidFill>
                <a:latin typeface="맑은 고딕"/>
              </a:rPr>
              <a:t>TO-BE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6052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50" b="1">
                <a:solidFill>
                  <a:srgbClr val="222222"/>
                </a:solidFill>
                <a:latin typeface="맑은 고딕"/>
              </a:rPr>
              <a:t>크롤링
(crawl)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92623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블로그 원문 수집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712" y="416052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E4F7EE"/>
          </a:solidFill>
          <a:ln w="1587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50" b="1">
                <a:solidFill>
                  <a:srgbClr val="222222"/>
                </a:solidFill>
                <a:latin typeface="맑은 고딕"/>
              </a:rPr>
              <a:t>★이미지 검색
(전)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992" y="4992623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"글쓰기 전" 선택 시</a:t>
            </a:r>
          </a:p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image_search.py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2504" y="416052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50" b="1">
                <a:solidFill>
                  <a:srgbClr val="222222"/>
                </a:solidFill>
                <a:latin typeface="맑은 고딕"/>
              </a:rPr>
              <a:t>AI 생성
(generate)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4992623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검색 이미지 참고 +</a:t>
            </a:r>
          </a:p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글쓰기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97296" y="416052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E4F7EE"/>
          </a:solidFill>
          <a:ln w="15875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50" b="1">
                <a:solidFill>
                  <a:srgbClr val="222222"/>
                </a:solidFill>
                <a:latin typeface="맑은 고딕"/>
              </a:rPr>
              <a:t>★이미지 검색
(후)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1576" y="4992623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"글쓰기 후" 선택 시</a:t>
            </a:r>
          </a:p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결과 md에 자동 삽입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416052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50" b="1">
                <a:solidFill>
                  <a:srgbClr val="222222"/>
                </a:solidFill>
                <a:latin typeface="맑은 고딕"/>
              </a:rPr>
              <a:t>이미지 생성
(image_gen)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7" y="4992623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AI 위임 생성 상태</a:t>
            </a:r>
          </a:p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16052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950" b="1">
                <a:solidFill>
                  <a:srgbClr val="222222"/>
                </a:solidFill>
                <a:latin typeface="맑은 고딕"/>
              </a:rPr>
              <a:t>발행
(publish)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4992623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0">
                <a:solidFill>
                  <a:srgbClr val="5B6370"/>
                </a:solidFill>
                <a:latin typeface="맑은 고딕"/>
              </a:rPr>
              <a:t>네이버 블로그 게시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11680" y="4549140"/>
            <a:ext cx="256032" cy="0"/>
          </a:xfrm>
          <a:prstGeom prst="bentConnector3">
            <a:avLst/>
          </a:prstGeom>
          <a:ln w="19050">
            <a:solidFill>
              <a:srgbClr val="219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76472" y="4549140"/>
            <a:ext cx="256032" cy="0"/>
          </a:xfrm>
          <a:prstGeom prst="bentConnector3">
            <a:avLst/>
          </a:prstGeom>
          <a:ln w="19050">
            <a:solidFill>
              <a:srgbClr val="219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1264" y="4549140"/>
            <a:ext cx="256032" cy="0"/>
          </a:xfrm>
          <a:prstGeom prst="bentConnector3">
            <a:avLst/>
          </a:prstGeom>
          <a:ln w="19050">
            <a:solidFill>
              <a:srgbClr val="219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06056" y="4549140"/>
            <a:ext cx="256032" cy="0"/>
          </a:xfrm>
          <a:prstGeom prst="bentConnector3">
            <a:avLst/>
          </a:prstGeom>
          <a:ln w="19050">
            <a:solidFill>
              <a:srgbClr val="219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70848" y="4549140"/>
            <a:ext cx="256032" cy="0"/>
          </a:xfrm>
          <a:prstGeom prst="bentConnector3">
            <a:avLst/>
          </a:prstGeom>
          <a:ln w="19050">
            <a:solidFill>
              <a:srgbClr val="219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598932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※ "전/후"는 배타 선택이므로 실행 시점에는 두 ★ 단계 중 하나만 활성화되고 나머지는 skipped로 기록됩니다.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FC5FF"/>
                </a:solidFill>
                <a:latin typeface="맑은 고딕"/>
              </a:rPr>
              <a:t>03. 파이프라인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백엔드 모듈 및 데이터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11880" cy="4754880"/>
          </a:xfrm>
          <a:prstGeom prst="roundRect">
            <a:avLst>
              <a:gd name="adj" fmla="val 4000"/>
            </a:avLst>
          </a:prstGeom>
          <a:solidFill>
            <a:srgbClr val="E4F7EE"/>
          </a:solidFill>
          <a:ln w="12700">
            <a:solidFill>
              <a:srgbClr val="21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신규 모듈: image_search.py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1546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이미지 검색 API 호출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  (GetImage/.env 자격증명)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search_images(keyword, count)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  → list[url] 반환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실패 시 예외 없이 빈 리스트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  반환 (다른 단계 계속 진행)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611880" cy="475488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PipelineContext 필드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546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search_images: bool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search_image_timing: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  "before" | "after"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search_image_keyword: str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search_image_count: 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63040"/>
            <a:ext cx="3611880" cy="4754880"/>
          </a:xfrm>
          <a:prstGeom prst="roundRect">
            <a:avLst>
              <a:gd name="adj" fmla="val 4000"/>
            </a:avLst>
          </a:prstGeom>
          <a:solidFill>
            <a:srgbClr val="FDF0DF"/>
          </a:solidFill>
          <a:ln w="12700">
            <a:solidFill>
              <a:srgbClr val="E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app.py 반영 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1546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InputTab: 신규 위젯 +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  input_defaults.json 저장/복원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TaskEditDialog: 멀티 작업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  편집 시 동일 필드 노출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· RunLogTab.STEP_NAMES에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맑은 고딕"/>
              </a:rPr>
              <a:t>  "image_search" 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FC5FF"/>
                </a:solidFill>
                <a:latin typeface="맑은 고딕"/>
              </a:rPr>
              <a:t>04. 구현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제안 작업 순서 (docs/ROADMAP.md Task 편입 기준)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9047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image_search.py 모듈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013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이미지 검색 API 연동 + 단위 테스트(fake API 응답으로 격리)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PipelineContext / config 필드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59736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search_images 관련 필드, input_defaults.json 스키마 확장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254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InputTab UI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18103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"이미지 자동 검색" 섹션 + 미리보기 위젯 + 선택 상태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8386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65575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run_pipeline 단계 삽입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7647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전/후 분기, image_search 단계의 on_step 콜백 연동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4223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23944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RunLogTab / MultiTaskTab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348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STEP_NAMES/STEP_LABELS 갱신, 진행률 표시 동기화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59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8231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TaskEditDialog 반영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093207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멀티 작업 편집 다이얼로그에도 동일 필드 노출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5896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40679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통합 테스트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751575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맑은 고딕"/>
              </a:rPr>
              <a:t>전 시점/후 시점 각각 파이프라인 mock 테스트, 검색 실패 시 graceful skip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